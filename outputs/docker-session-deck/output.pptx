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c3487082874bfb" /><Relationship Type="http://schemas.openxmlformats.org/officeDocument/2006/relationships/extended-properties" Target="/docProps/app.xml" Id="Ref6077cab3524972" /><Relationship Type="http://schemas.openxmlformats.org/officeDocument/2006/relationships/officeDocument" Target="/ppt/presentation.xml" Id="R348bdae3d22c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8623862b34973"/>
  </p:sldMasterIdLst>
  <p:notesMasterIdLst>
    <p:notesMasterId xmlns:r="http://schemas.openxmlformats.org/officeDocument/2006/relationships" r:id="Rdb2b9739d60f44fb"/>
  </p:notesMasterIdLst>
  <p:sldIdLst>
    <p:sldId xmlns:r="http://schemas.openxmlformats.org/officeDocument/2006/relationships" id="256" r:id="R2be3208f32e44a92"/>
    <p:sldId xmlns:r="http://schemas.openxmlformats.org/officeDocument/2006/relationships" id="257" r:id="R8943791d6525498a"/>
    <p:sldId xmlns:r="http://schemas.openxmlformats.org/officeDocument/2006/relationships" id="258" r:id="R4305df83392340d1"/>
    <p:sldId xmlns:r="http://schemas.openxmlformats.org/officeDocument/2006/relationships" id="259" r:id="R78ce9ad8b69145a4"/>
    <p:sldId xmlns:r="http://schemas.openxmlformats.org/officeDocument/2006/relationships" id="260" r:id="Rd2711826c2264815"/>
    <p:sldId xmlns:r="http://schemas.openxmlformats.org/officeDocument/2006/relationships" id="261" r:id="R51ba119bbf4b4658"/>
    <p:sldId xmlns:r="http://schemas.openxmlformats.org/officeDocument/2006/relationships" id="262" r:id="R365f9f3663f54d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623862b34973" /><Relationship Type="http://schemas.openxmlformats.org/officeDocument/2006/relationships/theme" Target="/ppt/theme/theme1.xml" Id="R983df99cfe064431" /><Relationship Type="http://schemas.openxmlformats.org/officeDocument/2006/relationships/notesMaster" Target="/ppt/notesMasters/notesMaster1.xml" Id="Rdb2b9739d60f44fb" /><Relationship Type="http://schemas.openxmlformats.org/officeDocument/2006/relationships/presProps" Target="/ppt/presProps.xml" Id="Rfe300a5e27da4bd9" /><Relationship Type="http://schemas.openxmlformats.org/officeDocument/2006/relationships/viewProps" Target="/ppt/viewProps.xml" Id="Rfb7cc088793d41d4" /><Relationship Type="http://schemas.openxmlformats.org/officeDocument/2006/relationships/tableStyles" Target="/ppt/tableStyles.xml" Id="R31c67547e7be4a7a" /><Relationship Type="http://schemas.openxmlformats.org/officeDocument/2006/relationships/slide" Target="/ppt/slides/slide1.xml" Id="R2be3208f32e44a92" /><Relationship Type="http://schemas.openxmlformats.org/officeDocument/2006/relationships/slide" Target="/ppt/slides/slide2.xml" Id="R8943791d6525498a" /><Relationship Type="http://schemas.openxmlformats.org/officeDocument/2006/relationships/slide" Target="/ppt/slides/slide3.xml" Id="R4305df83392340d1" /><Relationship Type="http://schemas.openxmlformats.org/officeDocument/2006/relationships/slide" Target="/ppt/slides/slide4.xml" Id="R78ce9ad8b69145a4" /><Relationship Type="http://schemas.openxmlformats.org/officeDocument/2006/relationships/slide" Target="/ppt/slides/slide5.xml" Id="Rd2711826c2264815" /><Relationship Type="http://schemas.openxmlformats.org/officeDocument/2006/relationships/slide" Target="/ppt/slides/slide6.xml" Id="R51ba119bbf4b4658" /><Relationship Type="http://schemas.openxmlformats.org/officeDocument/2006/relationships/slide" Target="/ppt/slides/slide7.xml" Id="R365f9f3663f5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430936ecc6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8adfd538024fb1" /><Relationship Type="http://schemas.openxmlformats.org/officeDocument/2006/relationships/notesMaster" Target="/ppt/notesMasters/notesMaster1.xml" Id="Re36487abe969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2dcae043247ac" /><Relationship Type="http://schemas.openxmlformats.org/officeDocument/2006/relationships/notesMaster" Target="/ppt/notesMasters/notesMaster1.xml" Id="R9e4c127d593f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bb6bc45104596" /><Relationship Type="http://schemas.openxmlformats.org/officeDocument/2006/relationships/notesMaster" Target="/ppt/notesMasters/notesMaster1.xml" Id="Rf0cb12d8ba744b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925fdef9946b2" /><Relationship Type="http://schemas.openxmlformats.org/officeDocument/2006/relationships/notesMaster" Target="/ppt/notesMasters/notesMaster1.xml" Id="Rc32533d43532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1b9b41088445ec" /><Relationship Type="http://schemas.openxmlformats.org/officeDocument/2006/relationships/notesMaster" Target="/ppt/notesMasters/notesMaster1.xml" Id="Rb8db9d64c3ba4e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a54790d4e491c" /><Relationship Type="http://schemas.openxmlformats.org/officeDocument/2006/relationships/notesMaster" Target="/ppt/notesMasters/notesMaster1.xml" Id="Rdfe95a7076d5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cbee9045441f7" /><Relationship Type="http://schemas.openxmlformats.org/officeDocument/2006/relationships/notesMaster" Target="/ppt/notesMasters/notesMaster1.xml" Id="R7884cdb9919d4d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not a long theory lecture. Docker is a way to make the app environment explicit and repeatable.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problem. If the runtime, database, config, or command is different, the system is different.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Dockerfile is the recipe. Image is the packaged artifact. Container is a running instance of that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low-level explanation short. Isolation is mostly namespaces and cgroups: filesystem view, network view, process view, and resource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VMs are heavier because they package a whole guest OS. Containers are lighter because they share the host kernel. Neither is automatically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permission not to obsess. Docker is good when it removes setup pain or makes dependencies reproducible. It is bad when it becomes theater.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into live work. First Docker on first-example. Then browser workspace for Dockerfile and Compose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3b130dcfb49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F013741-F216-4431-9829-FB26753884F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6A73E9-B8C0-435F-9CA4-C14AE3165A3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FDCAE4-0254-4F6A-B4F5-180527F6EA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389AD6-1B7C-4E9E-81F9-D2C3EAE090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2e76e19e984f0d" /><Relationship Type="http://schemas.openxmlformats.org/officeDocument/2006/relationships/slideLayout" Target="/ppt/slideLayouts/slideLayout2.xml" Id="Rd01e0903c091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C919D0-051F-45C0-B618-0479CC446C0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e0903c091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481a349df456e" /><Relationship Type="http://schemas.openxmlformats.org/officeDocument/2006/relationships/image" Target="/ppt/media/image.png" Id="R42ec20f448b2468f" /><Relationship Type="http://schemas.openxmlformats.org/officeDocument/2006/relationships/notesSlide" Target="/ppt/notesSlides/notesSlide1.xml" Id="Rce94385a8f7d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4a366ddb8412f" /><Relationship Type="http://schemas.openxmlformats.org/officeDocument/2006/relationships/image" Target="/ppt/media/image2.png" Id="R71bad0038ed947d0" /><Relationship Type="http://schemas.openxmlformats.org/officeDocument/2006/relationships/notesSlide" Target="/ppt/notesSlides/notesSlide2.xml" Id="Ra78d8399300a4b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b9c87315c4c82" /><Relationship Type="http://schemas.openxmlformats.org/officeDocument/2006/relationships/image" Target="/ppt/media/image3.png" Id="R8060b82195714e12" /><Relationship Type="http://schemas.openxmlformats.org/officeDocument/2006/relationships/notesSlide" Target="/ppt/notesSlides/notesSlide3.xml" Id="R4f620e9ec6214d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f47d78f614e43" /><Relationship Type="http://schemas.openxmlformats.org/officeDocument/2006/relationships/image" Target="/ppt/media/image4.png" Id="R9bbdf4ead6c143dc" /><Relationship Type="http://schemas.openxmlformats.org/officeDocument/2006/relationships/notesSlide" Target="/ppt/notesSlides/notesSlide4.xml" Id="R37de07d3566845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ca13cf070463d" /><Relationship Type="http://schemas.openxmlformats.org/officeDocument/2006/relationships/image" Target="/ppt/media/image5.png" Id="R040c28e21318427d" /><Relationship Type="http://schemas.openxmlformats.org/officeDocument/2006/relationships/notesSlide" Target="/ppt/notesSlides/notesSlide5.xml" Id="R4e1a45ce169f42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de6f0b6e5e4cd8" /><Relationship Type="http://schemas.openxmlformats.org/officeDocument/2006/relationships/image" Target="/ppt/media/image6.png" Id="R96a44fa85e3148ec" /><Relationship Type="http://schemas.openxmlformats.org/officeDocument/2006/relationships/notesSlide" Target="/ppt/notesSlides/notesSlide6.xml" Id="R8efaa6fab0f24b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d17e7378e4a97" /><Relationship Type="http://schemas.openxmlformats.org/officeDocument/2006/relationships/image" Target="/ppt/media/image7.png" Id="Rf2bc154bb155435a" /><Relationship Type="http://schemas.openxmlformats.org/officeDocument/2006/relationships/notesSlide" Target="/ppt/notesSlides/notesSlide7.xml" Id="R856733189cb248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277F3-41E8-40A5-A82C-EBD6847F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57BE0-7E9F-4E72-BDCF-23EF160E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34078-FA97-4C51-BA52-5154AC0F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A86C8-953A-415C-B7FB-D498E63A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BAA39-49B7-469B-AA78-4CFA53A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B55DA-B201-47C4-9BF7-33248EDA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9C520-EC5C-4A78-B43E-3C6F0AD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A253C-A531-4161-A143-79DCE3F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BA0AD-3B8C-45AB-B5B2-CACEFBE8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B0440-CB84-4559-A1C9-C47054F4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F14BF-E35E-4741-B9EA-930EB73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FF7D2-C7B4-4301-B8CC-7D19AFE3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7BB95-318E-489A-A04B-F818796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08D10-E026-4CDD-8A00-F6E7E99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8BCE8-2CEE-467D-AF1A-FD09BFE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42A56-9CC4-4E26-91C0-BA5F1DF4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D6A8C-1BAE-4809-A478-3FF9B5B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F7984-DBED-40B4-B91D-D9E024B9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84627-4E12-4823-80EB-E228F72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25035-038B-4AAE-AB42-A1CF20B3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A5868-BB7F-4E4F-B603-BF3EE70F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09B47-7A06-46B7-AD20-39A7DEF5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4F5E2-5EAE-41CE-90B7-3C25C5AF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CEDA1-B395-4874-8F97-0B5EF4A5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CD139-F037-4989-A863-E5E2ABB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B804F-5ADD-4404-86AE-50F44E4C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55BE3-6842-4B3D-B592-D78C815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CE4D6F-604A-4AF7-B797-D32534F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EEAAA-2A9E-4575-A40C-26E8BCA9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FA5CD-B083-4E8F-82FD-018B921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E9BD3-871D-4B7C-8E7E-334AE7B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044ED-C2F5-448F-9218-1768493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c20f448b2468f"/>
          <a:stretch xmlns:a="http://schemas.openxmlformats.org/drawingml/2006/main"/>
        </p:blipFill>
        <p:spPr>
          <a:xfrm xmlns:a="http://schemas.openxmlformats.org/drawingml/2006/main">
            <a:off x="7010400" y="1144480"/>
            <a:ext cx="3733800" cy="892389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213B3-5851-4188-8AA2-0F7BE869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876300"/>
            <a:ext cx="3733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B90CE4-A012-4583-A351-DD5095A7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5339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5D88D-1306-4BC4-9A59-5E8E6ED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A9E734-2DD3-4FE6-96F1-73FC3F33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96ED">
              <a:alpha val="14902"/>
            </a:srgbClr>
          </a:solidFill>
          <a:ln xmlns:a="http://schemas.openxmlformats.org/drawingml/2006/main" w="9525">
            <a:solidFill>
              <a:srgbClr val="2496ED">
                <a:alpha val="3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3DCDF-043A-4549-A75A-D39A05D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765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4F5"/>
                </a:solidFill>
              </a:defRPr>
            </a:pPr>
            <a:r>
              <a:rPr sz="900" b="1">
                <a:solidFill>
                  <a:srgbClr val="F4F4F5"/>
                </a:solidFill>
              </a:rPr>
              <a:t>docker session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749CED-8E23-408A-9B7D-3094AA5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957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B8AF81-82AC-4973-95F4-EA3F5BCB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same app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06BE9A-F1EC-4EE6-A4E7-B3FD7AE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754F0D-822E-4520-811C-A3D5566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same runtime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013A00-208D-4F10-8B8D-BDBC94E9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95700"/>
            <a:ext cx="133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1F7224-AC8F-47D2-834A-657ACBE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576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1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same command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1F5A52-9EA4-4E48-B641-63A947CF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038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6D1509-CCB6-4198-824F-B60CB878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03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4605BB-48E8-4C19-A784-5B40AA0C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37E53B-5167-4B10-ABFB-8F4D335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DB5EC3-1A46-4A6C-8788-E47EE23E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58B67D-C43B-47F5-A1B0-4FCE17A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350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docker compose up --build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785111-0678-4F66-B8E3-2284497C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Docker for Real Engineering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766A08-C7FD-4DA7-B410-C1C3F7C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Reproducible systems. Less setup drama.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14B614-7E32-46E0-ACD3-36E28104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143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3973A9-7C9B-4871-91D9-A40D4E9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E9211D-D4CE-4C2C-B3C4-3D23EB4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F9DE2B-DD08-494A-8F1F-CD90B398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0BB26C-638E-4CB0-8560-25A7476B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233271-52C0-49A8-BE5B-ACD7F177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4610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docker compose up --build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open http://localhost:3000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66F571-A386-46DE-8657-83099E9A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4F5"/>
                </a:solidFill>
              </a:defRPr>
            </a:pPr>
            <a:r>
              <a:rPr sz="2100" b="1">
                <a:solidFill>
                  <a:srgbClr val="F4F4F5"/>
                </a:solidFill>
              </a:rPr>
              <a:t>The slides explain why. The demos teach how.</a:t>
            </a:r>
          </a:p>
        </p:txBody>
      </p:sp>
    </p:spTree>
    <p:extLst>
      <p:ext uri="{BB962C8B-B14F-4D97-AF65-F5344CB8AC3E}">
        <p14:creationId xmlns:p14="http://schemas.microsoft.com/office/powerpoint/2010/main" val="1473127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160CB-328D-4137-B73F-38A35F2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E90EE-4F40-43F8-8419-1C7F0B8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37330-1FD9-4905-B84B-C2A83D94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E48F-DDDC-480C-B884-55CA214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9B990-5649-4CC5-9E73-677830E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3E37C-CA85-4143-B6C8-7B0BBCC3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75587-06DE-47A0-8893-185B6027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532AC-E87A-47B0-8184-70D6475D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E839E-12B8-43E9-BA48-BDE13F6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B187F-27B3-4FC3-888C-DB995C4E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42D49-E2B7-4D85-B63B-5541830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0E7CD-4C60-48AB-B52A-663CDA69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D8E47-B24A-4432-9D7B-1277BD2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0100D-AD6F-4FE4-B6B7-ACCB6ECB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F87EF-1B78-4E50-93E4-B0DC49A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8A057-659A-4F4A-81BF-42FB07A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3740F-211D-4B52-87A9-ADC11B8B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AF3DB-E160-48A8-BE18-EBBB5B6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336B9-425A-441E-9204-EF63A04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C12D2-B5E5-4495-85B8-FB326E1D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122D0-B243-48E2-BF03-B637E33D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5A910-9A9F-4033-A727-780E85D6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63E00-EA95-48B0-B4A2-3830448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F0883-0602-45FA-BE5F-7E10CAB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F9854-2EC2-495B-B0CD-900ED20D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6E4F1-DB1E-4902-B6F7-A2F8E26A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7EADB-5D88-454B-97C0-25E4C13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D9D4F-B44E-4FFA-A0C9-B45FD13D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981B1-7EFA-44A8-B16E-D78DA5A4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FA605-4E02-44C6-8867-854BE43A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32313A-EA97-411A-8A0C-77E263E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44254-C187-49BF-839F-44711FA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7A6E43-A9AA-4568-B14C-4CBB923B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THE PAIN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9FF532-A4A7-4D7C-91EE-A3B662B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2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ad0038ed947d0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7DBBED-B905-419E-BEC3-F3754570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It works on my machine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D4EF7F-41AE-4AAB-94B0-99F8678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Usually means: different environment.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45596-72C4-43EE-987C-5DC7B14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28700"/>
            <a:ext cx="2514600" cy="38481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E029EB-7884-401B-8AEE-DD47E4EF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287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0B993-875C-4AB8-849D-F512847F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514600" cy="38481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55C47-A388-486F-BAEA-65E16E7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9F14E-181B-4557-A245-83F8366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</a:defRPr>
            </a:pPr>
            <a:r>
              <a:rPr sz="1350" b="1">
                <a:solidFill>
                  <a:srgbClr val="F4F4F5"/>
                </a:solidFill>
              </a:rPr>
              <a:t>my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FD0AFC-5D16-4640-92A6-E6B12003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28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4F5"/>
                </a:solidFill>
              </a:defRPr>
            </a:pPr>
            <a:r>
              <a:rPr sz="1350" b="1">
                <a:solidFill>
                  <a:srgbClr val="F4F4F5"/>
                </a:solidFill>
              </a:rPr>
              <a:t>demo machine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7AC389-B282-40EA-A9A7-8E41771B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133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282021-5E5F-4A77-B669-DD3E43C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510811-427C-42AE-B704-6653F079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FE6D97-E020-4980-A1B7-52B8BB4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FA0965-C68F-4F19-B7DD-2615832D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863526-B4F2-43E7-9692-BCA22483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021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node -v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v18.17.0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docker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not found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42FAD8-83E3-4864-B333-1EB13EE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1336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A1FA3A-7CBB-4B79-BA4B-4BB04C4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C28CFA-8DA9-4C50-B252-22C6A82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FB146B-C628-437F-8BD3-78452DDC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94D7C7-C9A8-4D9D-95A0-273B28E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793E9C-AE16-4F05-A340-DAE17CC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021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node -v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v20.11.1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docker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CD6736-B4E7-4975-B52A-FBE1731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4488DA-A83C-4BEC-B51B-7E85234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runtime drift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8A8DD7-BB45-459D-89E9-8FFB5C4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FFB59D-3096-42DE-80AB-5B01155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config drift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EAD906-46FD-4FC9-A835-79D27B1D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3B4A55-51C9-46FC-965C-A2830B9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00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data drift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5A9A36-7D76-4B17-9D69-EF66DD25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344FE8-4304-49FD-9B92-D6733057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4F5"/>
                </a:solidFill>
              </a:defRPr>
            </a:pPr>
            <a:r>
              <a:rPr sz="2100" b="1">
                <a:solidFill>
                  <a:srgbClr val="F4F4F5"/>
                </a:solidFill>
              </a:rPr>
              <a:t>Different machine.</a:t>
            </a:r>
          </a:p>
          <a:p xmlns:a="http://schemas.openxmlformats.org/drawingml/2006/main">
            <a:pPr algn="l">
              <a:defRPr sz="2100" b="1">
                <a:solidFill>
                  <a:srgbClr val="F4F4F5"/>
                </a:solidFill>
              </a:defRPr>
            </a:pPr>
            <a:r>
              <a:rPr sz="2100" b="1">
                <a:solidFill>
                  <a:srgbClr val="F4F4F5"/>
                </a:solidFill>
              </a:rPr>
              <a:t>Different result.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18F133-4E66-4E5D-B488-EE2C9406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4D8"/>
                </a:solidFill>
              </a:defRPr>
            </a:pPr>
            <a:r>
              <a:rPr sz="1350" b="0">
                <a:solidFill>
                  <a:srgbClr val="D4D4D8"/>
                </a:solidFill>
              </a:rPr>
              <a:t>Docker makes the environment explicit instead of implied.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7D5CA6-8BFB-4484-88C4-BA78CDC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Environment is part of the app.</a:t>
            </a:r>
          </a:p>
        </p:txBody>
      </p:sp>
    </p:spTree>
    <p:extLst>
      <p:ext uri="{BB962C8B-B14F-4D97-AF65-F5344CB8AC3E}">
        <p14:creationId xmlns:p14="http://schemas.microsoft.com/office/powerpoint/2010/main" val="1170264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73F8F-FC9D-42E6-9F8D-B5864BA4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7BEAC-3CCB-4855-89E7-30E770E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BBCAD-B7C3-4DF4-B738-3159B65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221AC-AD2F-4121-9718-F8CE38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5F1D0-5BBD-4AB3-AFEE-8698488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8567-52E8-47C9-AFBA-D682B5F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C7B65-24C5-440F-BE1C-01FEDD09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B3FBA-0C13-4A0D-B325-369B7C1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160D3-BBAD-421C-98D1-3EDE8BD5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93255-A128-4FB1-BAA8-5E9EDB3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36576-A181-4BE7-A36C-F7DA1848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F7847-FB40-4AC9-BA1A-62943A4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6AA2D-640A-4A25-91A0-67384FB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B307B-C6A8-4E52-8EDF-686423D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2447E-AFF1-415B-A2FA-526C7057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D9385-4B20-4B3E-997A-1610298D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2FDBF-3E03-45B2-BDB3-8E80C89E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AD5BB-9146-48C7-9965-930E46A3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C9F6F-8CD9-4B78-9B64-7E09196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B0579-CBE3-4611-868A-C420065B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C04B9-6D2A-4903-9C21-53B8F019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6A60A-EBDE-4A45-8140-EBFA8B72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57469-4873-4C11-8508-6F89473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42C16-9492-4091-99AD-8ABBCDDA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3DAE87-00D7-46A2-9DB4-BEC8B57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6368C-2E83-4B83-8EEE-9215A15C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EE27B5-CEFA-4D3F-85D7-8B2E7A86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4F0B43-26D6-47D7-BCAE-166CDD65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FAA55-D6FD-4724-B9A5-FC974EA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6CC37-DEB3-443D-9F4F-5259485C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647DA-6F82-4556-8470-22A79C7B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FBFA2-840E-4158-BE47-2EF16D51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D8F442-B989-4EB6-855A-179C14D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WHAT DOCKER 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B8DF14-A000-412F-9B90-94754668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3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0b82195714e12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E20898-2670-48E0-928F-BAFF2B6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Image then container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89E3B7-1A34-4F95-B493-90423FD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Recipe, artifact, running process.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555E2-6C8A-477A-95F9-69F037A8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6101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9A0CB3-A495-44BB-9B22-391BF765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61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CE49F-A0E0-4428-B3E6-77A69C8F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E63D81-575C-4314-9762-F9E044E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1EBDA5-617B-4A48-9C57-C6EB63A4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8E9C53-14D9-47A1-8E2B-B625383C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242287-7EB2-4335-8AB8-A2FED03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EDF9A-CD4D-44B3-A905-540A5FF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3562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FROM node:20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COPY . .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CMD node dist/index.js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9B188B-E462-4735-896D-449A056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95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96ED">
              <a:alpha val="14902"/>
            </a:srgbClr>
          </a:solidFill>
          <a:ln xmlns:a="http://schemas.openxmlformats.org/drawingml/2006/main" w="9525">
            <a:solidFill>
              <a:srgbClr val="2496ED">
                <a:alpha val="3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26B9F-390C-4E7C-9DE2-5FD51AC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4F5"/>
                </a:solidFill>
              </a:defRPr>
            </a:pPr>
            <a:r>
              <a:rPr sz="900" b="1">
                <a:solidFill>
                  <a:srgbClr val="F4F4F5"/>
                </a:solidFill>
              </a:rPr>
              <a:t>Dockerfile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1E3F7-85FE-4043-9AA8-E8CF7FC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14859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58B333-A200-46E5-9AA6-DE625459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29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4F5"/>
                </a:solidFill>
              </a:defRPr>
            </a:pPr>
            <a:r>
              <a:rPr sz="1200" b="1">
                <a:solidFill>
                  <a:srgbClr val="F4F4F5"/>
                </a:solidFill>
              </a:rPr>
              <a:t>build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2B45DA-BB2F-4DAD-9A9C-4719D17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238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4F4F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52D5E0-7AB6-4D98-8BA5-F5305982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app code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142FBE-BDF3-4938-9270-E9EA7815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3238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D4D4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F9C659-F2F5-46CE-9776-975A040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npm install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60A120-0646-42C7-81CB-72A59E74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62400"/>
            <a:ext cx="3238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4F4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90B3DE-0CC0-4343-ABE4-248465A7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node:20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A2D99C-2BFF-4478-B178-07D2BB20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238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B8B8B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AB4233-870C-46E2-AD92-069D901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linux files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9E7715-F8D1-4FF6-8AA7-69DA775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96ED">
              <a:alpha val="14902"/>
            </a:srgbClr>
          </a:solidFill>
          <a:ln xmlns:a="http://schemas.openxmlformats.org/drawingml/2006/main" w="9525">
            <a:solidFill>
              <a:srgbClr val="2496ED">
                <a:alpha val="33333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752989-1AEE-46FE-AC1D-692C2EF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479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4F5"/>
                </a:solidFill>
              </a:defRPr>
            </a:pPr>
            <a:r>
              <a:rPr sz="900" b="1">
                <a:solidFill>
                  <a:srgbClr val="F4F4F5"/>
                </a:solidFill>
              </a:rPr>
              <a:t>image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EEE94E-3568-46C4-9FF9-66C5004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16764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2477D1-3A6F-4E6E-8995-39F56E3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4F5"/>
                </a:solidFill>
              </a:defRPr>
            </a:pPr>
            <a:r>
              <a:rPr sz="1200" b="1">
                <a:solidFill>
                  <a:srgbClr val="F4F4F5"/>
                </a:solidFill>
              </a:rPr>
              <a:t>run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C03EAF-0919-47A8-BBD9-D6A9D454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34000"/>
            <a:ext cx="1676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5A91D1-06A5-43A1-994B-51044277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340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817E39-9F68-4ECB-BFE6-A4B74941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02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1747053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7E44E-C74C-4373-A0BC-933376E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5920-6F72-48D3-B2CF-1D51065E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D9EDB-0CDF-4E36-8969-57F203EB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413E7-1BF8-4AC6-832F-4CF4A5D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D9F31-1138-4F29-A677-17048E1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61EF3-FCD5-4CE4-B854-8FB156E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686CB-76B6-4E05-BDB5-B448DE5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C1801-51A9-44B6-A34C-E98388C4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57631-23BC-4C66-B6BA-56F6BB02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C8DA9-55C6-4831-AE09-999CFE4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1CAD-53F8-4477-BDCD-70CF278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2E207-493C-4DBD-A08D-6658A67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998AA-0A08-47D0-9624-769947C6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8904A-1086-45C0-9BDA-6BE3AC0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4268E-D155-4D08-B9D4-8995863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D625E-28BD-46AE-89DD-3A56CB04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58A8B-5297-4E05-817B-76E66238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B3C62-82CE-472D-9306-EC7DC710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0CB90-7F78-419F-AC9C-6D7F754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574BC-188B-4C7E-BEE1-825A856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76F71-EB17-436D-A640-1E38B629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EBF5A-6142-45DF-B4ED-60B14280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8CF23-F989-4A82-899A-A418FE63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7E1DA-0070-4076-9404-BE6D96D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FE33B-9FC3-4E7E-ADB8-29ABD24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F05E4-87B0-447C-83A7-D02F6AF7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35078-D864-4087-BE00-31827934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672ED-462C-4DE0-890E-0D959EF9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66423-19E7-423C-A41E-C40B72D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A2E7BD-216F-4B5B-B03C-4FA5425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21AFB-E91E-4349-954F-CAF8754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3D8B3-152A-4C2E-ABC9-7D128F36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1AA08-F247-46EF-9070-79DAC5C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UNDER THE HOOD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FCA29-5EBB-477A-A450-8505B1C1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4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df4ead6c143dc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13B52D-B0A9-4D07-BCCE-A6D7A6C9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An isolated process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9CD148-7DD1-4CAD-ABC0-71C6511B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It shares the host kernel, but gets its own view.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205763-310B-4E20-9C90-733D4E94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647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2496ED">
                <a:alpha val="26667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DA4CE0-62DA-433D-A58B-780E49A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B81D84-19C9-4134-9161-BCEFEFB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host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081339-5AA5-4DA6-A607-F3A53A0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16002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40C550-2C5D-44BE-93E9-0BFF58B6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128B61-F9BF-4CB5-88B2-10A226D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B920F0-E2B2-45E0-A714-DBB1AC2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16002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4DB0AC-AA24-4DF5-8D7A-41EE90A8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FC7A7-3EBA-4A29-A3A0-C69CF7F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0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mongo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587A0-3DD0-4C3F-8A16-46189858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33800"/>
            <a:ext cx="16002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DFCB27-0106-4131-AA24-91F9499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338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7F9FDF-08A3-44A3-8BBA-CB711A71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redis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2DACFF-70E7-4348-AFD8-B238B084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38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E8EF5B-4106-4E5C-AD20-E5A398E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38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9479A7-3661-4D04-8961-2EF6FFAB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3124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1D21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8D54F8-B431-44D0-81C7-54BAC50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host kernel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520DA4-C87F-4017-9811-4C8D26D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Shared by all containers</a:t>
            </a:r>
          </a:p>
          <a:p xmlns:a="http://schemas.openxmlformats.org/drawingml/2006/main">
            <a:pPr algn="ctr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Boundary is process-level isolation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2EC889-E4E8-4279-A615-7F34E2B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181983-2BC4-437B-B62D-AEAA00D9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97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filesystem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1271FE-D34C-4C42-8449-7986F37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57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AC3FB6-A96F-4406-99E6-4D164AF9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1977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network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6222C1-AD03-453E-886D-B4A0E704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4CA457-E277-4C87-9ABC-EE22886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197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562978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9C896-57BD-41D2-8703-1F12FF86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ABC6A-897B-425E-A772-F99B814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F843-4CF0-4485-8A44-81F1B4A6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AFB32-F1E7-4C7E-88AA-652204B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5C6D-368E-4C48-BF3B-91B95508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58970-762F-45DD-9FE2-0264F88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DC3C3-750B-465E-B5FD-8B87408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E14C9-C31F-42A1-A66B-8F1A835E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C117F-6AA7-4FBA-B57D-21C8C72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0DC20-51E3-461B-A444-5EC57DA2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CB570-9EEE-424C-9E30-65A10BD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36B77-E73D-4483-A53C-AC08F75F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AE0DE-7F88-46A0-9D97-2A8BEF1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2634B-ACE3-47AE-B47D-F527F9A0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612EE-5FE0-448F-95C7-2E203AE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4C12B-1B0C-42BB-B40A-774B031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BEB21-FC02-484B-92A7-AD612952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5A231-70B8-40A8-887C-F4E96A5D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0473F-77BC-4891-9198-EC3F6E1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1CCA5-91F0-40C2-8D7C-6FE5D78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1FD1B-EF12-4828-BA97-12C606BF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F5CF2-4229-45BB-BC0A-6179A8FA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41FEB-4BF5-4144-B78C-20C307CA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EEC8B-5043-4009-8EE8-B9CBF294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82DE5-9AB3-43CB-978C-80954D1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6E2B3-7C3B-46CF-BC63-E05B6D9C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6DB8A-0E4D-4472-9D01-1E1C730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2828D-F46F-44F2-9CE9-C95A9437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33098-7E5C-4EE7-BAC1-D556916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060A3-559B-40B2-88CA-A3510D4F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75188-58F3-4968-BD9C-357CC4A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2AD97-7296-41ED-97E6-F12A8131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92EDF-3726-4FB2-980D-123BDD3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CONTAINERS VS VMS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F3862-2DCE-42C3-A516-AECC88AF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5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28e21318427d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4E60A-BEE2-4C55-8E90-51576555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Different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D77CE-CA18-4182-AF3A-F8F060E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VMs package machines. Containers package app environments.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900A13-E874-4E72-A5EC-B406172D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3434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ED95F9-C8AC-488A-A43A-93D2F17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A079F8-67BF-4CBE-BE3E-C4935F0C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3434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5359AD-D100-46F7-9C68-28E52983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34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2BD03E-D928-4517-9231-FBD9A1E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4F5"/>
                </a:solidFill>
              </a:defRPr>
            </a:pPr>
            <a:r>
              <a:rPr sz="2325" b="1">
                <a:solidFill>
                  <a:srgbClr val="F4F4F5"/>
                </a:solidFill>
              </a:rPr>
              <a:t>Virtual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B971F9-7C1D-4869-8A9C-40DFF72A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4F5"/>
                </a:solidFill>
              </a:defRPr>
            </a:pPr>
            <a:r>
              <a:rPr sz="2325" b="1">
                <a:solidFill>
                  <a:srgbClr val="F4F4F5"/>
                </a:solidFill>
              </a:rPr>
              <a:t>Container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82780B-14B8-4402-A96B-ED2D4EB3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3A31A8-2671-4375-87F8-F8D1F7BD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9E0AA5-B756-4695-9851-8F1C77DE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5"/>
                </a:solidFill>
              </a:defRPr>
            </a:pPr>
            <a:r>
              <a:rPr sz="1350" b="0">
                <a:solidFill>
                  <a:srgbClr val="F4F4F5"/>
                </a:solidFill>
              </a:rPr>
              <a:t>app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F27388-EB20-4090-9C8A-C5AF2F96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4D8"/>
                </a:solidFill>
              </a:defRPr>
            </a:pPr>
            <a:r>
              <a:rPr sz="1350" b="0">
                <a:solidFill>
                  <a:srgbClr val="D4D4D8"/>
                </a:solidFill>
              </a:rPr>
              <a:t>guest 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D7A77F-7E3C-4FC5-9F13-04FD6A10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496ED">
              <a:alpha val="9412"/>
            </a:srgbClr>
          </a:solidFill>
          <a:ln xmlns:a="http://schemas.openxmlformats.org/drawingml/2006/main" w="9525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FC2F53-EB40-4B6C-9FB1-B85FAC7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010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02F8AA-479D-417C-BCE7-CD924824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5"/>
                </a:solidFill>
              </a:defRPr>
            </a:pPr>
            <a:r>
              <a:rPr sz="1350" b="0">
                <a:solidFill>
                  <a:srgbClr val="F4F4F5"/>
                </a:solidFill>
              </a:rPr>
              <a:t>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E751A8-9082-4A8E-B4BA-DE22ADA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4D8"/>
                </a:solidFill>
              </a:defRPr>
            </a:pPr>
            <a:r>
              <a:rPr sz="1350" b="0">
                <a:solidFill>
                  <a:srgbClr val="D4D4D8"/>
                </a:solidFill>
              </a:rPr>
              <a:t>shared kernel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F0D12-E798-44BE-9CA4-697C31B1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Stronger machine boundary</a:t>
            </a:r>
          </a:p>
          <a:p xmlns:a="http://schemas.openxmlformats.org/drawingml/2006/main">
            <a:pPr algn="l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Heavier startup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D2D4B3-F5CD-4CF6-B296-F8B6D332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Faster app packaging</a:t>
            </a:r>
          </a:p>
          <a:p xmlns:a="http://schemas.openxmlformats.org/drawingml/2006/main">
            <a:pPr algn="l">
              <a:defRPr sz="1500" b="0">
                <a:solidFill>
                  <a:srgbClr val="D4D4D8"/>
                </a:solidFill>
              </a:defRPr>
            </a:pPr>
            <a:r>
              <a:rPr sz="1500" b="0">
                <a:solidFill>
                  <a:srgbClr val="D4D4D8"/>
                </a:solidFill>
              </a:rPr>
              <a:t>Lighter runtime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21622F-6AA4-47D5-9908-A35E088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626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4F5"/>
                </a:solidFill>
              </a:defRPr>
            </a:pPr>
            <a:r>
              <a:rPr sz="2325" b="1">
                <a:solidFill>
                  <a:srgbClr val="F4F4F5"/>
                </a:solidFill>
              </a:rPr>
              <a:t>Pick the boundary you need.</a:t>
            </a:r>
          </a:p>
        </p:txBody>
      </p:sp>
    </p:spTree>
    <p:extLst>
      <p:ext uri="{BB962C8B-B14F-4D97-AF65-F5344CB8AC3E}">
        <p14:creationId xmlns:p14="http://schemas.microsoft.com/office/powerpoint/2010/main" val="636244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D0C14-A56F-460E-871D-96A0B7B8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D5EF8-D224-4942-B56D-F107123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B38F9-24A6-421B-B9A7-CDC50411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A389E-085F-4154-8E23-8510E51E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4200-FC86-4BD3-B063-6B7DABE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8FFB9-9E28-48BC-A084-A44705E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735A7-4CD5-4BC2-A8AF-5E0E391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80EDF-809A-4BED-8DB3-A09DDB9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64D3E-DF19-4EEC-9A67-5D30BDC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AA9C0-C082-4513-92AD-41B9CEC8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053FE-A140-4CB7-BD4D-913F6B0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6225C-EABC-4CC8-AB64-5179EAB0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500AE-DECF-4902-A366-5605A5C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89169-5855-436B-98D5-3A0AF7EC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04529-2588-452D-BB63-CFA9293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7A981-5A71-48B1-AAB4-BC952D80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7E164-355F-4AEC-BAA5-C5E7120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3922C-5FB2-4185-B3FC-82B1748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9D1DC-CB69-4CD9-ADE2-1AE96E5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3B41D-68D0-41C0-AA48-D81D73FF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F6DE8-AF7F-4B52-9016-86101045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2F718-1887-49A0-8CCC-1AFBA015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0A816-58D3-40D1-A7C2-D8B1E2E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3BCFC-8F20-46AF-A1A6-90AD8F0B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C3CEB-D09A-4521-BDC6-4CF7E6B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1068B-351D-4018-885D-9F191C38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EE0DC-9C5E-4CE7-BDB2-A3BC0EC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07CFE-2707-4CB8-AFBE-DCDFC97A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9C1AA-7B94-42D8-B0DB-1E33C650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2C65D-EB3C-4F9D-9FE2-F7F3A34B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58A14-8DE3-4DBB-AD63-108F313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2102DE-E4F4-428D-BFC0-A7AEF368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CAC432-E1F8-481B-BFDC-88382922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JUDGMENT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1E0291-7F34-4969-AC9E-A817B64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6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44fa85e3148ec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4718CD-9375-4398-87CB-DF6FBAB9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Use it to remove friction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F85F1D-AD8C-4FCF-8993-941588D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Do not containerize for the aesthetic.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867489-875E-43E3-918D-7AE7B44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714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183773-D5E9-4C54-A0CA-3FA73DF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6C9043-0A12-4CFD-8CF6-9F4724E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4F92D1-BE29-4422-B961-E01E982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7C8E11-954F-4033-842A-2DF4911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app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2E0C0C-70A0-4F6E-BB06-D691B60A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528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323F7-864C-48B3-84F0-1BFEBB1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528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7BD4DE-1B5F-4ACF-8492-A9863C34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db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35E952-F573-4E60-B2D0-26370DE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9DBEA1-E64C-4DC9-A6EE-C9D03AA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3C963F-63D8-4E20-A9CD-A23BEDF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cache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CC299D-A055-4F0D-A401-9AAF5E7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9550"/>
            <a:ext cx="6096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DB6E8D-56C6-4B13-B8BA-830B5076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49F86E-D3E0-4308-A3E8-94805A5E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19550"/>
            <a:ext cx="6096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B6916E-F061-4BB7-A554-E8F688B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719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4386D2-348F-4109-8009-5F99FB34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2496ED">
                <a:alpha val="33333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7197B3-B60A-4D0B-A5A2-F45C1C42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A1A524-7596-4F64-84F1-0716DB5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C6F1CE-ED59-4D39-941F-AA9C5FF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team setup hurts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6625E5-1F11-4E4D-BC22-6D3688A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851C62-F835-464C-98E8-1EF5FBF8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00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CI should match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3F24D5-DF19-4F14-838E-613E046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530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191D">
              <a:alpha val="90196"/>
            </a:srgbClr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B79990-A2C4-467C-A470-A712829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149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4F5"/>
                </a:solidFill>
              </a:defRPr>
            </a:pPr>
            <a:r>
              <a:rPr sz="1425" b="1">
                <a:solidFill>
                  <a:srgbClr val="F4F4F5"/>
                </a:solidFill>
              </a:rPr>
              <a:t>services are real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EFA878-B233-49E6-9460-603707E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4F5"/>
                </a:solidFill>
              </a:defRPr>
            </a:pPr>
            <a:r>
              <a:rPr sz="2325" b="1">
                <a:solidFill>
                  <a:srgbClr val="F4F4F5"/>
                </a:solidFill>
              </a:rPr>
              <a:t>Goal: less setup pain, not more YAML.</a:t>
            </a:r>
          </a:p>
        </p:txBody>
      </p:sp>
    </p:spTree>
    <p:extLst>
      <p:ext uri="{BB962C8B-B14F-4D97-AF65-F5344CB8AC3E}">
        <p14:creationId xmlns:p14="http://schemas.microsoft.com/office/powerpoint/2010/main" val="1586910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C4C372-7799-4012-B145-B45D78D80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490FE-9476-48FD-AC35-D08AC63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38951-D1B7-419C-9923-17668E09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470F-8574-4352-A6C9-2FEC0766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8F4D9-B180-421B-915A-8F1470E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57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dockerlab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080B-E28F-4248-AC52-C047DF4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1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B3AEA-D492-4315-970B-8C38E942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1A1AA"/>
                </a:solidFill>
              </a:defRPr>
            </a:pPr>
            <a:r>
              <a:rPr sz="750" b="0">
                <a:solidFill>
                  <a:srgbClr val="A1A1AA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C52A8-8493-41E1-83E1-F58097C1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DCC7-5D2F-4E3D-BABD-922B9684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198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191D">
              <a:alpha val="80000"/>
            </a:srgbClr>
          </a:solidFill>
          <a:ln xmlns:a="http://schemas.openxmlformats.org/drawingml/2006/main"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B49F1-9517-424D-9B72-03F98DE9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55F6E-604B-492F-8980-8C1B4C1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02618-1E0A-4117-9679-93E5BEC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86413-9622-4641-9FF8-59383F37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6DA38-C58C-4EE4-8D63-4E171B2F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819DF-FECB-4EC6-86A0-1B92EB4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515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CD1BD-19A2-42DD-933D-5586004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34FBE-650E-4684-8DCF-277441E6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5BAC3-3C7D-499F-BDB7-10387913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D5FB6-A853-4C2B-959D-9FD8CDC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1EB80-EEC0-4F98-893E-E22CC73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A6EE1-DEAF-4867-B13E-02EA5D9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E4679-78E8-4D80-8971-9A9296E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67F57-81D0-4EA1-9663-12CB8BE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C7399-E2FC-4D84-B001-36DE8F2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40A3A-C9CF-48B8-A1CC-1E23C9B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D6E48-F56B-4E03-ACD2-5FC9AA11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B8E31-603D-4A7B-9C99-87C5DF6B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AA568-1BF5-444F-A6B1-733AF25F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74782F-84B6-43ED-9E96-F7D504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F3EDC-9367-4ED2-B35E-CD9452C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717A7-C71A-4099-95B7-E14D6D80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42277-8AC8-4523-8016-C17F2BE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7EC45D-F672-4806-A14C-45E7D07A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064E1-A4A9-48DC-A91E-9A56199F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</a:defRPr>
            </a:pPr>
            <a:r>
              <a:rPr sz="900" b="1">
                <a:solidFill>
                  <a:srgbClr val="A1A1AA"/>
                </a:solidFill>
              </a:rPr>
              <a:t>HOW WE PRACTICE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23A93-5AEF-4322-B3F5-AC1F74D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1A1AA"/>
                </a:solidFill>
              </a:defRPr>
            </a:pPr>
            <a:r>
              <a:rPr sz="900" b="0">
                <a:solidFill>
                  <a:srgbClr val="A1A1AA"/>
                </a:solidFill>
              </a:rPr>
              <a:t>7 / 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c154bb155435a"/>
          <a:stretch xmlns:a="http://schemas.openxmlformats.org/drawingml/2006/main"/>
        </p:blipFill>
        <p:spPr>
          <a:xfrm xmlns:a="http://schemas.openxmlformats.org/drawingml/2006/main">
            <a:off x="9886950" y="328040"/>
            <a:ext cx="762000" cy="18212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093AD4-CE34-485E-9CE0-672CE8F2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Two demos, then hands-on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1853A6-50E0-41F2-ABAC-A13F1EC7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4D8"/>
                </a:solidFill>
              </a:defRPr>
            </a:pPr>
            <a:r>
              <a:rPr sz="1650" b="0">
                <a:solidFill>
                  <a:srgbClr val="D4D4D8"/>
                </a:solidFill>
              </a:rPr>
              <a:t>Local app first. Workspace lab second.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359A48-A2CF-4C7B-A25B-215022C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51816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9F7903-EBC9-4216-BE5C-97A3063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B35656-8679-419C-A7E9-7ADDEE2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800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30405"/>
          </a:solidFill>
          <a:ln xmlns:a="http://schemas.openxmlformats.org/drawingml/2006/main" w="10478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8C679F-EFF8-4EB3-A0D8-752D0D7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80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74F5D8-3296-411C-A11E-6AD13A6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9B4E00-5840-42A5-ABD4-215BC2B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844CD3-22F7-41FE-BBC7-4A1D152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C9705C-E346-40E5-8C70-96BD6113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4267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77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cd first-example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docker compose up --build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</a:defRPr>
            </a:pPr>
            <a:r>
              <a:rPr sz="1650" b="0">
                <a:solidFill>
                  <a:srgbClr val="F4F4F5"/>
                </a:solidFill>
              </a:rPr>
              <a:t>open the app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E52648-E509-497C-B81E-0064F54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0478">
            <a:solidFill>
              <a:srgbClr val="2496ED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A66C7D-E361-4915-A6D7-662CA1F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6ADEB-9874-49F0-A25E-611F451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47E459-4E93-48C8-B733-BFD97AA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B54A16-F848-42DE-BB55-14F12008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demo 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347F1A-E1FF-4D27-A991-D9E087E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D4D8"/>
                </a:solidFill>
              </a:defRPr>
            </a:pPr>
            <a:r>
              <a:rPr sz="1500" b="1">
                <a:solidFill>
                  <a:srgbClr val="D4D4D8"/>
                </a:solidFill>
              </a:rPr>
              <a:t>first-example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E5CF57-C9A7-4079-BB24-2A9E038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7810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2745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084F3A-B4B7-47D3-8EF0-5CFAB40B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338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FF7D8F-28AE-4CC0-8D41-7EF41C4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518"/>
          </a:solidFill>
          <a:ln xmlns:a="http://schemas.openxmlformats.org/drawingml/2006/main" w="11430">
            <a:solidFill>
              <a:srgbClr val="2496ED">
                <a:alpha val="53333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E537EC-D779-46EE-ABE9-D6122736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8429C2-2965-4BAE-B697-5997FD6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338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rPr sz="1800" b="1">
                <a:solidFill>
                  <a:srgbClr val="F4F4F5"/>
                </a:solidFill>
              </a:rPr>
              <a:t>demo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672563-5761-406F-97DC-BDDB7013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00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D4D8"/>
                </a:solidFill>
              </a:defRPr>
            </a:pPr>
            <a:r>
              <a:rPr sz="1500" b="1">
                <a:solidFill>
                  <a:srgbClr val="D4D4D8"/>
                </a:solidFill>
              </a:rPr>
              <a:t>workspace lab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9B3CE6-0E7A-4B15-AD62-C1231B72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96ED">
              <a:alpha val="14902"/>
            </a:srgbClr>
          </a:solidFill>
          <a:ln xmlns:a="http://schemas.openxmlformats.org/drawingml/2006/main" w="9525">
            <a:solidFill>
              <a:srgbClr val="2496ED">
                <a:alpha val="33333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C3966B-1592-441E-9ED1-5E941CA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0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4F5"/>
                </a:solidFill>
              </a:defRPr>
            </a:pPr>
            <a:r>
              <a:rPr sz="900" b="1">
                <a:solidFill>
                  <a:srgbClr val="F4F4F5"/>
                </a:solidFill>
              </a:rPr>
              <a:t>hands-on next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E261CF-C41A-4523-9079-207BCEF7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4F5"/>
                </a:solidFill>
              </a:defRPr>
            </a:pPr>
            <a:r>
              <a:rPr sz="2250" b="1">
                <a:solidFill>
                  <a:srgbClr val="F4F4F5"/>
                </a:solidFill>
              </a:rPr>
              <a:t>Slides explain why. The demos teach how.</a:t>
            </a:r>
          </a:p>
        </p:txBody>
      </p:sp>
    </p:spTree>
    <p:extLst>
      <p:ext uri="{BB962C8B-B14F-4D97-AF65-F5344CB8AC3E}">
        <p14:creationId xmlns:p14="http://schemas.microsoft.com/office/powerpoint/2010/main" val="2047310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2026-04-18T20:03:26.9670000Z</dcterms:created>
  <dcterms:modified xsi:type="dcterms:W3CDTF">2026-04-18T20:03:26.9670000Z</dcterms:modified>
</coreProperties>
</file>